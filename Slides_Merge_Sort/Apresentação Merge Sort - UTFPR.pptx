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Plus Jakarta Sans ExtraBold"/>
      <p:bold r:id="rId23"/>
      <p:boldItalic r:id="rId24"/>
    </p:embeddedFont>
    <p:embeddedFont>
      <p:font typeface="Plus Jakarta Sans"/>
      <p:regular r:id="rId25"/>
      <p:bold r:id="rId26"/>
      <p:italic r:id="rId27"/>
      <p:boldItalic r:id="rId28"/>
    </p:embeddedFont>
    <p:embeddedFont>
      <p:font typeface="Inter"/>
      <p:regular r:id="rId29"/>
      <p:bold r:id="rId30"/>
      <p:italic r:id="rId31"/>
      <p:boldItalic r:id="rId32"/>
    </p:embeddedFont>
    <p:embeddedFont>
      <p:font typeface="Fira Code Medium"/>
      <p:regular r:id="rId33"/>
      <p:bold r:id="rId34"/>
    </p:embeddedFont>
    <p:embeddedFont>
      <p:font typeface="Inter ExtraBold"/>
      <p:bold r:id="rId35"/>
      <p:boldItalic r:id="rId36"/>
    </p:embeddedFont>
    <p:embeddedFont>
      <p:font typeface="Fira Code"/>
      <p:regular r:id="rId37"/>
      <p:bold r:id="rId38"/>
    </p:embeddedFont>
    <p:embeddedFont>
      <p:font typeface="Inter Medium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DFAEA2-66F3-47EE-AF37-42ACE90D04FA}">
  <a:tblStyle styleId="{22DFAEA2-66F3-47EE-AF37-42ACE90D04F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Medium-bold.fntdata"/><Relationship Id="rId20" Type="http://schemas.openxmlformats.org/officeDocument/2006/relationships/font" Target="fonts/InterSemiBold-bold.fntdata"/><Relationship Id="rId42" Type="http://schemas.openxmlformats.org/officeDocument/2006/relationships/font" Target="fonts/InterMedium-boldItalic.fntdata"/><Relationship Id="rId41" Type="http://schemas.openxmlformats.org/officeDocument/2006/relationships/font" Target="fonts/InterMedium-italic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PlusJakartaSansExtraBold-boldItalic.fntdata"/><Relationship Id="rId23" Type="http://schemas.openxmlformats.org/officeDocument/2006/relationships/font" Target="fonts/PlusJakartaSans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-bold.fntdata"/><Relationship Id="rId25" Type="http://schemas.openxmlformats.org/officeDocument/2006/relationships/font" Target="fonts/PlusJakartaSans-regular.fntdata"/><Relationship Id="rId28" Type="http://schemas.openxmlformats.org/officeDocument/2006/relationships/font" Target="fonts/PlusJakartaSans-boldItalic.fntdata"/><Relationship Id="rId27" Type="http://schemas.openxmlformats.org/officeDocument/2006/relationships/font" Target="fonts/PlusJakarta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5.xml"/><Relationship Id="rId33" Type="http://schemas.openxmlformats.org/officeDocument/2006/relationships/font" Target="fonts/FiraCodeMedium-regular.fntdata"/><Relationship Id="rId10" Type="http://schemas.openxmlformats.org/officeDocument/2006/relationships/slide" Target="slides/slide4.xml"/><Relationship Id="rId32" Type="http://schemas.openxmlformats.org/officeDocument/2006/relationships/font" Target="fonts/Inter-boldItalic.fntdata"/><Relationship Id="rId13" Type="http://schemas.openxmlformats.org/officeDocument/2006/relationships/slide" Target="slides/slide7.xml"/><Relationship Id="rId35" Type="http://schemas.openxmlformats.org/officeDocument/2006/relationships/font" Target="fonts/InterExtraBold-bold.fntdata"/><Relationship Id="rId12" Type="http://schemas.openxmlformats.org/officeDocument/2006/relationships/slide" Target="slides/slide6.xml"/><Relationship Id="rId34" Type="http://schemas.openxmlformats.org/officeDocument/2006/relationships/font" Target="fonts/FiraCodeMedium-bold.fntdata"/><Relationship Id="rId15" Type="http://schemas.openxmlformats.org/officeDocument/2006/relationships/slide" Target="slides/slide9.xml"/><Relationship Id="rId37" Type="http://schemas.openxmlformats.org/officeDocument/2006/relationships/font" Target="fonts/FiraCode-regular.fntdata"/><Relationship Id="rId14" Type="http://schemas.openxmlformats.org/officeDocument/2006/relationships/slide" Target="slides/slide8.xml"/><Relationship Id="rId36" Type="http://schemas.openxmlformats.org/officeDocument/2006/relationships/font" Target="fonts/InterExtraBold-boldItalic.fntdata"/><Relationship Id="rId17" Type="http://schemas.openxmlformats.org/officeDocument/2006/relationships/slide" Target="slides/slide11.xml"/><Relationship Id="rId39" Type="http://schemas.openxmlformats.org/officeDocument/2006/relationships/font" Target="fonts/InterMedium-regular.fntdata"/><Relationship Id="rId16" Type="http://schemas.openxmlformats.org/officeDocument/2006/relationships/slide" Target="slides/slide10.xml"/><Relationship Id="rId38" Type="http://schemas.openxmlformats.org/officeDocument/2006/relationships/font" Target="fonts/FiraCode-bold.fntdata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9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21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Relationship Id="rId7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Relationship Id="rId5" Type="http://schemas.openxmlformats.org/officeDocument/2006/relationships/image" Target="../media/image11.png"/><Relationship Id="rId6" Type="http://schemas.openxmlformats.org/officeDocument/2006/relationships/image" Target="../media/image22.png"/><Relationship Id="rId7" Type="http://schemas.openxmlformats.org/officeDocument/2006/relationships/image" Target="../media/image16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Relationship Id="rId9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30.png"/><Relationship Id="rId7" Type="http://schemas.openxmlformats.org/officeDocument/2006/relationships/image" Target="../media/image25.png"/><Relationship Id="rId8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29.png"/><Relationship Id="rId13" Type="http://schemas.openxmlformats.org/officeDocument/2006/relationships/image" Target="../media/image38.png"/><Relationship Id="rId1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50.png"/><Relationship Id="rId9" Type="http://schemas.openxmlformats.org/officeDocument/2006/relationships/image" Target="../media/image37.png"/><Relationship Id="rId15" Type="http://schemas.openxmlformats.org/officeDocument/2006/relationships/image" Target="../media/image42.png"/><Relationship Id="rId14" Type="http://schemas.openxmlformats.org/officeDocument/2006/relationships/image" Target="../media/image39.png"/><Relationship Id="rId17" Type="http://schemas.openxmlformats.org/officeDocument/2006/relationships/image" Target="../media/image52.png"/><Relationship Id="rId16" Type="http://schemas.openxmlformats.org/officeDocument/2006/relationships/image" Target="../media/image43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Relationship Id="rId18" Type="http://schemas.openxmlformats.org/officeDocument/2006/relationships/image" Target="../media/image53.png"/><Relationship Id="rId7" Type="http://schemas.openxmlformats.org/officeDocument/2006/relationships/image" Target="../media/image36.png"/><Relationship Id="rId8" Type="http://schemas.openxmlformats.org/officeDocument/2006/relationships/image" Target="../media/image4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44.png"/><Relationship Id="rId9" Type="http://schemas.openxmlformats.org/officeDocument/2006/relationships/image" Target="../media/image59.gif"/><Relationship Id="rId5" Type="http://schemas.openxmlformats.org/officeDocument/2006/relationships/image" Target="../media/image46.png"/><Relationship Id="rId6" Type="http://schemas.openxmlformats.org/officeDocument/2006/relationships/image" Target="../media/image57.png"/><Relationship Id="rId7" Type="http://schemas.openxmlformats.org/officeDocument/2006/relationships/image" Target="../media/image41.png"/><Relationship Id="rId8" Type="http://schemas.openxmlformats.org/officeDocument/2006/relationships/image" Target="../media/image5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56.png"/><Relationship Id="rId5" Type="http://schemas.openxmlformats.org/officeDocument/2006/relationships/image" Target="../media/image48.png"/><Relationship Id="rId6" Type="http://schemas.openxmlformats.org/officeDocument/2006/relationships/image" Target="../media/image4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58.png"/><Relationship Id="rId5" Type="http://schemas.openxmlformats.org/officeDocument/2006/relationships/image" Target="../media/image5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45.png"/><Relationship Id="rId5" Type="http://schemas.openxmlformats.org/officeDocument/2006/relationships/image" Target="../media/image51.png"/><Relationship Id="rId6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576738"/>
            <a:ext cx="11049000" cy="8048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81721"/>
            <a:ext cx="2512814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3010346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Merge Sort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795117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Ordenação Eficiente por Divisão e Conquista</a:t>
            </a:r>
            <a:endParaRPr b="1"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76250"/>
            <a:ext cx="621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UTFPR - UNIVERSIDADE TECNOLÓGICA FEDERAL DO PARANÁ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704850"/>
            <a:ext cx="62103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TADS - Tecnologia em Análise e Desenvolvimento de Sistemas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9029700" y="704850"/>
            <a:ext cx="2590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Estratégias de Programação 2026-02</a:t>
            </a:r>
            <a:endParaRPr/>
          </a:p>
        </p:txBody>
      </p:sp>
      <p:pic>
        <p:nvPicPr>
          <p:cNvPr descr="image.png" id="92" name="Google Shape;9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2400" y="2653171"/>
            <a:ext cx="159097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809625" y="5776763"/>
            <a:ext cx="540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DOCENTE</a:t>
            </a:r>
            <a:endParaRPr sz="1350"/>
          </a:p>
        </p:txBody>
      </p:sp>
      <p:sp>
        <p:nvSpPr>
          <p:cNvPr id="94" name="Google Shape;94;p13"/>
          <p:cNvSpPr txBox="1"/>
          <p:nvPr/>
        </p:nvSpPr>
        <p:spPr>
          <a:xfrm>
            <a:off x="809625" y="5967263"/>
            <a:ext cx="5143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Prof. Clayton Kossoski</a:t>
            </a:r>
            <a:endParaRPr sz="1300"/>
          </a:p>
        </p:txBody>
      </p:sp>
      <p:sp>
        <p:nvSpPr>
          <p:cNvPr id="95" name="Google Shape;95;p13"/>
          <p:cNvSpPr txBox="1"/>
          <p:nvPr/>
        </p:nvSpPr>
        <p:spPr>
          <a:xfrm>
            <a:off x="6238875" y="5776763"/>
            <a:ext cx="540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ACADÊMICOS</a:t>
            </a:r>
            <a:endParaRPr sz="1350"/>
          </a:p>
        </p:txBody>
      </p:sp>
      <p:sp>
        <p:nvSpPr>
          <p:cNvPr id="96" name="Google Shape;96;p13"/>
          <p:cNvSpPr txBox="1"/>
          <p:nvPr/>
        </p:nvSpPr>
        <p:spPr>
          <a:xfrm>
            <a:off x="6238875" y="5967263"/>
            <a:ext cx="5143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Abner, Gabriel Mohamed, João Souza</a:t>
            </a:r>
            <a:endParaRPr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Agenda da Apresentação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809625" y="2076450"/>
            <a:ext cx="320711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Visão Geral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09625" y="2409825"/>
            <a:ext cx="3054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 que é o Merge Sort, histórico, conceito do paradigma de Divisão e Conquista e propósito no processamento de dados.</a:t>
            </a:r>
            <a:endParaRPr sz="1350"/>
          </a:p>
        </p:txBody>
      </p:sp>
      <p:sp>
        <p:nvSpPr>
          <p:cNvPr id="106" name="Google Shape;106;p14"/>
          <p:cNvSpPr txBox="1"/>
          <p:nvPr/>
        </p:nvSpPr>
        <p:spPr>
          <a:xfrm>
            <a:off x="4568874" y="2076450"/>
            <a:ext cx="320711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Funcionamento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568874" y="2409825"/>
            <a:ext cx="3054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As etapas de Divisão, Conquista e Intercalação (Merge), acompanhadas de um passo a passo visual e didático.</a:t>
            </a:r>
            <a:endParaRPr sz="1350"/>
          </a:p>
        </p:txBody>
      </p:sp>
      <p:sp>
        <p:nvSpPr>
          <p:cNvPr id="108" name="Google Shape;108;p14"/>
          <p:cNvSpPr txBox="1"/>
          <p:nvPr/>
        </p:nvSpPr>
        <p:spPr>
          <a:xfrm>
            <a:off x="8328124" y="2076450"/>
            <a:ext cx="320711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Código e Complexidade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328124" y="2409825"/>
            <a:ext cx="3054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Implementação prática em linguagem C++ e análise detalhada de desempenho O(n log n) e memória O(n).</a:t>
            </a:r>
            <a:endParaRPr sz="1350"/>
          </a:p>
        </p:txBody>
      </p:sp>
      <p:sp>
        <p:nvSpPr>
          <p:cNvPr id="110" name="Google Shape;110;p14"/>
          <p:cNvSpPr txBox="1"/>
          <p:nvPr/>
        </p:nvSpPr>
        <p:spPr>
          <a:xfrm>
            <a:off x="809625" y="4448175"/>
            <a:ext cx="320711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Comparativo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09625" y="4781550"/>
            <a:ext cx="3054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Tabela comparativa frente a outros algoritmos de ordenação (Quick Sort, Heap Sort, Bubble Sort).</a:t>
            </a:r>
            <a:endParaRPr sz="1350"/>
          </a:p>
        </p:txBody>
      </p:sp>
      <p:sp>
        <p:nvSpPr>
          <p:cNvPr id="112" name="Google Shape;112;p14"/>
          <p:cNvSpPr txBox="1"/>
          <p:nvPr/>
        </p:nvSpPr>
        <p:spPr>
          <a:xfrm>
            <a:off x="4568874" y="4448175"/>
            <a:ext cx="320711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 Demonstração Visual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4568874" y="4781550"/>
            <a:ext cx="3054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Visualização gráfica da árvore de recursão, curiosidades históricas e aplicações modernas.</a:t>
            </a:r>
            <a:endParaRPr sz="1350"/>
          </a:p>
        </p:txBody>
      </p:sp>
      <p:sp>
        <p:nvSpPr>
          <p:cNvPr id="114" name="Google Shape;114;p14"/>
          <p:cNvSpPr txBox="1"/>
          <p:nvPr/>
        </p:nvSpPr>
        <p:spPr>
          <a:xfrm>
            <a:off x="8328124" y="4448175"/>
            <a:ext cx="320711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6. Conclusão &amp; Referências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328124" y="4781550"/>
            <a:ext cx="3054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Resumo dos aprendizados, considerações finais e bibliografia técnica nas normas ABNT NBR 6023.</a:t>
            </a:r>
            <a:endParaRPr sz="1350"/>
          </a:p>
        </p:txBody>
      </p:sp>
      <p:pic>
        <p:nvPicPr>
          <p:cNvPr descr="image.png" id="116" name="Google Shape;11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" y="154305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8874" y="1543050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28124" y="1543050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3914775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68874" y="3914775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28124" y="3914775"/>
            <a:ext cx="42862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66825"/>
            <a:ext cx="535305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7450" y="1266825"/>
            <a:ext cx="5353050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Merge Sort: Visão Geral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847725" y="1543050"/>
            <a:ext cx="504063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que é o Merge Sort?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47725" y="1924050"/>
            <a:ext cx="48006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Merge Sort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é um algoritmo de ordenação por comparação inventado por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John von Neumann em 1945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Trata-se de um clássico exemplo da técnica de </a:t>
            </a:r>
            <a:r>
              <a:rPr b="0" i="1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Divisão e Conquista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47725" y="3212550"/>
            <a:ext cx="4800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ideia central é dividir um problema grande e complexo em subproblemas menores, resolvê-los recursivamente e combinar as soluções para obter o resultado final ordenado.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543675" y="1543050"/>
            <a:ext cx="504063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Principais Características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638925" y="1924050"/>
            <a:ext cx="9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6734175" y="1924050"/>
            <a:ext cx="46101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Paradigma: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Divisão e Conquista.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6734175" y="2181225"/>
            <a:ext cx="46101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Estabilidade: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Algoritmo </a:t>
            </a:r>
            <a:r>
              <a:rPr b="0" i="1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Estável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(preserva a ordem relativa de elementos com chaves iguais).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6734175" y="2826788"/>
            <a:ext cx="46101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Desempenho Garantido: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Complexidade de tempo previsível de em todos os casos.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638925" y="3209925"/>
            <a:ext cx="9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734175" y="3467100"/>
            <a:ext cx="46101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Uso Prático: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Base do std::stable_sort em C++ e ideal para grandes volumes de dados.</a:t>
            </a:r>
            <a:endParaRPr/>
          </a:p>
        </p:txBody>
      </p:sp>
      <p:pic>
        <p:nvPicPr>
          <p:cNvPr descr="image.png" id="141" name="Google Shape;14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05450" y="3072300"/>
            <a:ext cx="1004294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9125" y="4167200"/>
            <a:ext cx="11049000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752600"/>
            <a:ext cx="3581400" cy="202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05300" y="1752600"/>
            <a:ext cx="3581400" cy="199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9100" y="1752600"/>
            <a:ext cx="3581400" cy="199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O Algoritmo: Passo a Passo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571500" y="1266825"/>
            <a:ext cx="74104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 funcionamento do Merge Sort é estruturado rigorosamente em três etapas sequenciais: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771525" y="4295775"/>
            <a:ext cx="1064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Nota Chave: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864550" y="4610100"/>
            <a:ext cx="1064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verdadeira "mágica" e o custo computacional do algoritmo residem na função de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Intercalação (Merge)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onde os elementos são comparados e combinados ordenadamente.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800100" y="1952625"/>
            <a:ext cx="31527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ETAPA 1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800100" y="2171700"/>
            <a:ext cx="331041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Divisão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00100" y="2466975"/>
            <a:ext cx="3381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Calcula-se o ponto médio do vetor e divide-se a sequência em duas metades quase iguais: subvetor esquerdo e subvetor direito.</a:t>
            </a:r>
            <a:endParaRPr sz="1350"/>
          </a:p>
        </p:txBody>
      </p:sp>
      <p:sp>
        <p:nvSpPr>
          <p:cNvPr id="159" name="Google Shape;159;p16"/>
          <p:cNvSpPr txBox="1"/>
          <p:nvPr/>
        </p:nvSpPr>
        <p:spPr>
          <a:xfrm>
            <a:off x="4533900" y="1952625"/>
            <a:ext cx="31527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ETAPA 2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4533900" y="2171700"/>
            <a:ext cx="331041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Conquista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4533900" y="2466975"/>
            <a:ext cx="3381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Aplica-se a recursão para ordenar ambas as metades. O caso base é atingido quando o subvetor possui tamanho 1 ou 0 (já ordenado por definição).</a:t>
            </a:r>
            <a:endParaRPr sz="1350"/>
          </a:p>
        </p:txBody>
      </p:sp>
      <p:sp>
        <p:nvSpPr>
          <p:cNvPr id="162" name="Google Shape;162;p16"/>
          <p:cNvSpPr txBox="1"/>
          <p:nvPr/>
        </p:nvSpPr>
        <p:spPr>
          <a:xfrm>
            <a:off x="8267700" y="1952625"/>
            <a:ext cx="31527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D948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ETAPA 3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8267700" y="2171700"/>
            <a:ext cx="331041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Intercalação (Merge)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8267700" y="2466975"/>
            <a:ext cx="3475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Junta-se (intercala) os dois subvetores previamente ordenados em um único vetor ordenado, comparando elemento a elemento sequencialmente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165" name="Google Shape;16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" y="4295763"/>
            <a:ext cx="1333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Exemplo Prático de Divisão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571500" y="1266825"/>
            <a:ext cx="56208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Rastreio com </a:t>
            </a:r>
            <a:r>
              <a:rPr b="1" lang="en-US" sz="1404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Array </a:t>
            </a: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[</a:t>
            </a:r>
            <a:r>
              <a:rPr b="1" lang="en-US" sz="1404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70, 30, 50, 10</a:t>
            </a: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]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914400" y="1485900"/>
            <a:ext cx="501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Divisão Inicial: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[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70, 30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] e [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50, 10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]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914400" y="1895475"/>
            <a:ext cx="50101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Subdivisões Sucessivas: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 processo recursivo divide até obter instâncias individuais de 1 elemento.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914400" y="2562225"/>
            <a:ext cx="501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Início do Merge: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[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30, 70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] e [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10, 50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]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914400" y="3228975"/>
            <a:ext cx="5010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Combinação Final: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[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30, 70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] + [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10, 50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] → </a:t>
            </a: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</a:t>
            </a:r>
            <a:r>
              <a:rPr b="1"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10, 30, 50, 70</a:t>
            </a: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]</a:t>
            </a:r>
            <a:endParaRPr/>
          </a:p>
        </p:txBody>
      </p:sp>
      <p:pic>
        <p:nvPicPr>
          <p:cNvPr descr="image.png" id="178" name="Google Shape;17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97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1928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58603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2527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 title="Adobe Express - fil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76950" y="1019175"/>
            <a:ext cx="58535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Implementação C++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4124325" y="1476375"/>
            <a:ext cx="304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void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4505325" y="1476375"/>
            <a:ext cx="381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merge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4962525" y="1476375"/>
            <a:ext cx="228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5800725" y="1476375"/>
            <a:ext cx="228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486525" y="1476375"/>
            <a:ext cx="228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7248525" y="1476375"/>
            <a:ext cx="228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8086725" y="1476375"/>
            <a:ext cx="228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9763125" y="1476375"/>
            <a:ext cx="76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9991725" y="1476375"/>
            <a:ext cx="228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1228725" y="1676400"/>
            <a:ext cx="228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2600325" y="1676400"/>
            <a:ext cx="2514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// Vetor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5191125" y="1676400"/>
            <a:ext cx="228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43F5E"/>
                </a:solidFill>
                <a:latin typeface="Fira Code Medium"/>
                <a:ea typeface="Fira Code Medium"/>
                <a:cs typeface="Fira Code Medium"/>
                <a:sym typeface="Fira Code Medium"/>
              </a:rPr>
              <a:t>for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5572125" y="1676400"/>
            <a:ext cx="228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6181725" y="1676400"/>
            <a:ext cx="76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9001125" y="1676400"/>
            <a:ext cx="228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43F5E"/>
                </a:solidFill>
                <a:latin typeface="Fira Code Medium"/>
                <a:ea typeface="Fira Code Medium"/>
                <a:cs typeface="Fira Code Medium"/>
                <a:sym typeface="Fira Code Medium"/>
              </a:rPr>
              <a:t>for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9382125" y="1676400"/>
            <a:ext cx="228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9991725" y="1676400"/>
            <a:ext cx="76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2143125" y="1876425"/>
            <a:ext cx="76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2752725" y="1876425"/>
            <a:ext cx="228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3362325" y="1876425"/>
            <a:ext cx="76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3895725" y="1876425"/>
            <a:ext cx="76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4810125" y="1876425"/>
            <a:ext cx="381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43F5E"/>
                </a:solidFill>
                <a:latin typeface="Fira Code Medium"/>
                <a:ea typeface="Fira Code Medium"/>
                <a:cs typeface="Fira Code Medium"/>
                <a:sym typeface="Fira Code Medium"/>
              </a:rPr>
              <a:t>while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6867525" y="1876425"/>
            <a:ext cx="152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43F5E"/>
                </a:solidFill>
                <a:latin typeface="Fira Code Medium"/>
                <a:ea typeface="Fira Code Medium"/>
                <a:cs typeface="Fira Code Medium"/>
                <a:sym typeface="Fira Code Medium"/>
              </a:rPr>
              <a:t>if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9686925" y="1876425"/>
            <a:ext cx="304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43F5E"/>
                </a:solidFill>
                <a:latin typeface="Fira Code Medium"/>
                <a:ea typeface="Fira Code Medium"/>
                <a:cs typeface="Fira Code Medium"/>
                <a:sym typeface="Fira Code Medium"/>
              </a:rPr>
              <a:t>else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1533525" y="2076450"/>
            <a:ext cx="381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43F5E"/>
                </a:solidFill>
                <a:latin typeface="Fira Code Medium"/>
                <a:ea typeface="Fira Code Medium"/>
                <a:cs typeface="Fira Code Medium"/>
                <a:sym typeface="Fira Code Medium"/>
              </a:rPr>
              <a:t>while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4124325" y="2076450"/>
            <a:ext cx="381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43F5E"/>
                </a:solidFill>
                <a:latin typeface="Fira Code Medium"/>
                <a:ea typeface="Fira Code Medium"/>
                <a:cs typeface="Fira Code Medium"/>
                <a:sym typeface="Fira Code Medium"/>
              </a:rPr>
              <a:t>while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6867525" y="2076450"/>
            <a:ext cx="2286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// Função recursiva Merge Sort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9229725" y="2076450"/>
            <a:ext cx="304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void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9610725" y="2076450"/>
            <a:ext cx="685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mergeSort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10372725" y="2076450"/>
            <a:ext cx="228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771525" y="2276475"/>
            <a:ext cx="228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1457325" y="2276475"/>
            <a:ext cx="228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2295525" y="2276475"/>
            <a:ext cx="152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43F5E"/>
                </a:solidFill>
                <a:latin typeface="Fira Code Medium"/>
                <a:ea typeface="Fira Code Medium"/>
                <a:cs typeface="Fira Code Medium"/>
                <a:sym typeface="Fira Code Medium"/>
              </a:rPr>
              <a:t>if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3590925" y="2276475"/>
            <a:ext cx="228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5953125" y="2276475"/>
            <a:ext cx="76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6181725" y="2276475"/>
            <a:ext cx="685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mergeSort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8239125" y="2276475"/>
            <a:ext cx="1371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// Metade esquerda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9686925" y="2276475"/>
            <a:ext cx="685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mergeSort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771525" y="2476500"/>
            <a:ext cx="76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1457325" y="2476500"/>
            <a:ext cx="12954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// Metade direita</a:t>
            </a: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2828925" y="2476500"/>
            <a:ext cx="381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4D399"/>
                </a:solidFill>
                <a:latin typeface="Fira Code"/>
                <a:ea typeface="Fira Code"/>
                <a:cs typeface="Fira Code"/>
                <a:sym typeface="Fira Code"/>
              </a:rPr>
              <a:t>merge</a:t>
            </a:r>
            <a:endParaRPr/>
          </a:p>
        </p:txBody>
      </p:sp>
      <p:sp>
        <p:nvSpPr>
          <p:cNvPr id="231" name="Google Shape;231;p18"/>
          <p:cNvSpPr txBox="1"/>
          <p:nvPr/>
        </p:nvSpPr>
        <p:spPr>
          <a:xfrm>
            <a:off x="4962525" y="2476500"/>
            <a:ext cx="1143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// Intercalaç</a:t>
            </a:r>
            <a:endParaRPr/>
          </a:p>
        </p:txBody>
      </p:sp>
      <p:pic>
        <p:nvPicPr>
          <p:cNvPr id="232" name="Google Shape;232;p18" title="carbon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234475"/>
            <a:ext cx="11049001" cy="526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09925"/>
            <a:ext cx="110490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266825"/>
            <a:ext cx="353064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30749" y="1266825"/>
            <a:ext cx="353064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89999" y="1266825"/>
            <a:ext cx="3530649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9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Análise de Complexidade</a:t>
            </a:r>
            <a:endParaRPr/>
          </a:p>
        </p:txBody>
      </p:sp>
      <p:sp>
        <p:nvSpPr>
          <p:cNvPr id="243" name="Google Shape;243;p19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771525" y="3409950"/>
            <a:ext cx="1118139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Equação de Recorrência (Teorema Mestre):</a:t>
            </a:r>
            <a:endParaRPr/>
          </a:p>
        </p:txBody>
      </p:sp>
      <p:sp>
        <p:nvSpPr>
          <p:cNvPr id="245" name="Google Shape;245;p19"/>
          <p:cNvSpPr txBox="1"/>
          <p:nvPr/>
        </p:nvSpPr>
        <p:spPr>
          <a:xfrm>
            <a:off x="771525" y="3705225"/>
            <a:ext cx="10649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complexidade temporal é modelada matematicamente por: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                     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Resultando rigorosamente no limite assintótico .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809625" y="1504950"/>
            <a:ext cx="3054399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0D948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O(n log n)</a:t>
            </a:r>
            <a:endParaRPr/>
          </a:p>
        </p:txBody>
      </p:sp>
      <p:sp>
        <p:nvSpPr>
          <p:cNvPr id="247" name="Google Shape;247;p19"/>
          <p:cNvSpPr txBox="1"/>
          <p:nvPr/>
        </p:nvSpPr>
        <p:spPr>
          <a:xfrm>
            <a:off x="809625" y="2076450"/>
            <a:ext cx="305439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Tempo (Todos os Casos)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809625" y="2343150"/>
            <a:ext cx="30543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Nível de recursão de profundidade log n, com n comparações por nível.</a:t>
            </a:r>
            <a:endParaRPr b="1" sz="1150"/>
          </a:p>
        </p:txBody>
      </p:sp>
      <p:sp>
        <p:nvSpPr>
          <p:cNvPr id="249" name="Google Shape;249;p19"/>
          <p:cNvSpPr txBox="1"/>
          <p:nvPr/>
        </p:nvSpPr>
        <p:spPr>
          <a:xfrm>
            <a:off x="4568874" y="1504950"/>
            <a:ext cx="3054399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0D948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O(n)</a:t>
            </a:r>
            <a:endParaRPr/>
          </a:p>
        </p:txBody>
      </p:sp>
      <p:sp>
        <p:nvSpPr>
          <p:cNvPr id="250" name="Google Shape;250;p19"/>
          <p:cNvSpPr txBox="1"/>
          <p:nvPr/>
        </p:nvSpPr>
        <p:spPr>
          <a:xfrm>
            <a:off x="4568874" y="2076450"/>
            <a:ext cx="305439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Espaço Auxiliar</a:t>
            </a:r>
            <a:endParaRPr/>
          </a:p>
        </p:txBody>
      </p:sp>
      <p:sp>
        <p:nvSpPr>
          <p:cNvPr id="251" name="Google Shape;251;p19"/>
          <p:cNvSpPr txBox="1"/>
          <p:nvPr/>
        </p:nvSpPr>
        <p:spPr>
          <a:xfrm>
            <a:off x="4568874" y="2343150"/>
            <a:ext cx="30543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Requer vetores adicionais para armazenar os elementos durante a intercalação</a:t>
            </a: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1"/>
          </a:p>
        </p:txBody>
      </p:sp>
      <p:sp>
        <p:nvSpPr>
          <p:cNvPr id="252" name="Google Shape;252;p19"/>
          <p:cNvSpPr txBox="1"/>
          <p:nvPr/>
        </p:nvSpPr>
        <p:spPr>
          <a:xfrm>
            <a:off x="8328124" y="1504950"/>
            <a:ext cx="3054399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0D948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Sim</a:t>
            </a:r>
            <a:endParaRPr/>
          </a:p>
        </p:txBody>
      </p:sp>
      <p:sp>
        <p:nvSpPr>
          <p:cNvPr id="253" name="Google Shape;253;p19"/>
          <p:cNvSpPr txBox="1"/>
          <p:nvPr/>
        </p:nvSpPr>
        <p:spPr>
          <a:xfrm>
            <a:off x="8328124" y="2076450"/>
            <a:ext cx="305439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Algoritmo Estável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8328124" y="2343150"/>
            <a:ext cx="30543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Elementos idênticos mantêm a ordem relativa original do vetor de entrada.</a:t>
            </a:r>
            <a:endParaRPr b="1" sz="1150"/>
          </a:p>
        </p:txBody>
      </p:sp>
      <p:pic>
        <p:nvPicPr>
          <p:cNvPr descr="image.png" id="255" name="Google Shape;25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8775" y="3656624"/>
            <a:ext cx="10544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711825" y="3656625"/>
            <a:ext cx="609750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Comparativo de Algoritmos</a:t>
            </a:r>
            <a:endParaRPr/>
          </a:p>
        </p:txBody>
      </p:sp>
      <p:sp>
        <p:nvSpPr>
          <p:cNvPr id="263" name="Google Shape;263;p20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571500" y="3981450"/>
            <a:ext cx="100107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* Destaque: O Merge Sort se diferencia do Quick Sort por garantir O(n log n) mesmo no pior caso, com a desvantagem de exigir memória O(n) extra.</a:t>
            </a:r>
            <a:endParaRPr b="1"/>
          </a:p>
        </p:txBody>
      </p:sp>
      <p:graphicFrame>
        <p:nvGraphicFramePr>
          <p:cNvPr id="265" name="Google Shape;265;p20"/>
          <p:cNvGraphicFramePr/>
          <p:nvPr/>
        </p:nvGraphicFramePr>
        <p:xfrm>
          <a:off x="571500" y="12668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{22DFAEA2-66F3-47EE-AF37-42ACE90D04FA}</a:tableStyleId>
              </a:tblPr>
              <a:tblGrid>
                <a:gridCol w="2227350"/>
                <a:gridCol w="2510275"/>
                <a:gridCol w="2068275"/>
                <a:gridCol w="1873900"/>
                <a:gridCol w="2369200"/>
              </a:tblGrid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Algoritmo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Tempo Médio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Pior Caso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Espaço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Estabilidade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Merge Sort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O(n log 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O(n log 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O(n)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Estável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Quick Sort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O(n log 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O(n²)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O(log 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Não Estável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Heap Sort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O(n log 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O(n log 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O(1)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Não Estável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Bubble Sort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O(n²)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O(n²)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O(1)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Estável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6" name="Google Shape;266;p20"/>
          <p:cNvSpPr/>
          <p:nvPr/>
        </p:nvSpPr>
        <p:spPr>
          <a:xfrm>
            <a:off x="571500" y="1757362"/>
            <a:ext cx="22273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2798861" y="1757362"/>
            <a:ext cx="25102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5309145" y="1757362"/>
            <a:ext cx="20682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7377410" y="1757362"/>
            <a:ext cx="18738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9251305" y="1757362"/>
            <a:ext cx="2369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571500" y="2262187"/>
            <a:ext cx="22273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2798861" y="2262187"/>
            <a:ext cx="25102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5309145" y="2262187"/>
            <a:ext cx="20682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7377410" y="2262187"/>
            <a:ext cx="18738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9251305" y="2262187"/>
            <a:ext cx="2369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571500" y="2767012"/>
            <a:ext cx="22273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2798861" y="2767012"/>
            <a:ext cx="25102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5309145" y="2767012"/>
            <a:ext cx="20682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7377410" y="2767012"/>
            <a:ext cx="18738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9251305" y="2767012"/>
            <a:ext cx="2369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571500" y="3271837"/>
            <a:ext cx="22273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2798861" y="3271837"/>
            <a:ext cx="25102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/>
          <p:nvPr/>
        </p:nvSpPr>
        <p:spPr>
          <a:xfrm>
            <a:off x="5309145" y="3271837"/>
            <a:ext cx="20682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7377410" y="3271837"/>
            <a:ext cx="18738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9251305" y="3271837"/>
            <a:ext cx="2369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571500" y="3776662"/>
            <a:ext cx="222736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2798861" y="3776662"/>
            <a:ext cx="25102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5309145" y="3776662"/>
            <a:ext cx="20682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0"/>
          <p:cNvSpPr/>
          <p:nvPr/>
        </p:nvSpPr>
        <p:spPr>
          <a:xfrm>
            <a:off x="7377410" y="3776662"/>
            <a:ext cx="18738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0"/>
          <p:cNvSpPr/>
          <p:nvPr/>
        </p:nvSpPr>
        <p:spPr>
          <a:xfrm>
            <a:off x="9251305" y="3776662"/>
            <a:ext cx="23691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1" name="Google Shape;29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0311" y="1914525"/>
            <a:ext cx="7715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0595" y="1914525"/>
            <a:ext cx="7715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8860" y="1914525"/>
            <a:ext cx="4572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22755" y="1914525"/>
            <a:ext cx="6286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70311" y="2419350"/>
            <a:ext cx="7715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480595" y="2419350"/>
            <a:ext cx="5143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48860" y="2419350"/>
            <a:ext cx="666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422755" y="2419350"/>
            <a:ext cx="8953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970311" y="2924175"/>
            <a:ext cx="7715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480595" y="2924175"/>
            <a:ext cx="7715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548860" y="2924175"/>
            <a:ext cx="4381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422755" y="2924175"/>
            <a:ext cx="8953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970311" y="3429000"/>
            <a:ext cx="5143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480595" y="3429000"/>
            <a:ext cx="5143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548860" y="3429000"/>
            <a:ext cx="4381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9422755" y="3429000"/>
            <a:ext cx="62865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1" name="Google Shape;31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7450" y="1266825"/>
            <a:ext cx="53530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1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Demonstração e Animação</a:t>
            </a:r>
            <a:endParaRPr/>
          </a:p>
        </p:txBody>
      </p:sp>
      <p:sp>
        <p:nvSpPr>
          <p:cNvPr id="314" name="Google Shape;314;p21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571500" y="1266825"/>
            <a:ext cx="56207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Estrutura de Árvore Recursiva</a:t>
            </a:r>
            <a:endParaRPr/>
          </a:p>
        </p:txBody>
      </p:sp>
      <p:sp>
        <p:nvSpPr>
          <p:cNvPr id="316" name="Google Shape;316;p21"/>
          <p:cNvSpPr txBox="1"/>
          <p:nvPr/>
        </p:nvSpPr>
        <p:spPr>
          <a:xfrm>
            <a:off x="571500" y="1485900"/>
            <a:ext cx="53530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Visualmente, o Merge Sort pode ser representado como uma árvore binária de chamadas recursivas:</a:t>
            </a:r>
            <a:endParaRPr/>
          </a:p>
        </p:txBody>
      </p:sp>
      <p:pic>
        <p:nvPicPr>
          <p:cNvPr descr="image.png" id="317" name="Google Shape;31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6975" y="991800"/>
            <a:ext cx="5334000" cy="304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1"/>
          <p:cNvSpPr txBox="1"/>
          <p:nvPr/>
        </p:nvSpPr>
        <p:spPr>
          <a:xfrm>
            <a:off x="914400" y="2114550"/>
            <a:ext cx="5010150" cy="267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Profundidade da Árvore: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níveis.</a:t>
            </a:r>
            <a:endParaRPr/>
          </a:p>
        </p:txBody>
      </p:sp>
      <p:sp>
        <p:nvSpPr>
          <p:cNvPr id="319" name="Google Shape;319;p21"/>
          <p:cNvSpPr txBox="1"/>
          <p:nvPr/>
        </p:nvSpPr>
        <p:spPr>
          <a:xfrm>
            <a:off x="914400" y="2534840"/>
            <a:ext cx="50101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Trabalho por Nível: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Cada nível executa exatamente operações de fusão.</a:t>
            </a:r>
            <a:endParaRPr/>
          </a:p>
        </p:txBody>
      </p:sp>
      <p:sp>
        <p:nvSpPr>
          <p:cNvPr id="320" name="Google Shape;320;p21"/>
          <p:cNvSpPr txBox="1"/>
          <p:nvPr/>
        </p:nvSpPr>
        <p:spPr>
          <a:xfrm>
            <a:off x="914400" y="3201590"/>
            <a:ext cx="5010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Simuladores Online: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Ferramentas como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https://www.hackerearth.com/practice/algorithms/sorting/merge-sort/visualize/</a:t>
            </a:r>
            <a:endParaRPr/>
          </a:p>
        </p:txBody>
      </p:sp>
      <p:pic>
        <p:nvPicPr>
          <p:cNvPr descr="image.png" id="321" name="Google Shape;32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72075" y="2562236"/>
            <a:ext cx="33848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55865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225403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1" title="Merge-sort-example-300px.gif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1500" y="4545825"/>
            <a:ext cx="5127025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1"/>
          <p:cNvSpPr txBox="1"/>
          <p:nvPr/>
        </p:nvSpPr>
        <p:spPr>
          <a:xfrm>
            <a:off x="7258575" y="4886325"/>
            <a:ext cx="43620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Uma representação visual animada do funcionamento de um algoritmo </a:t>
            </a:r>
            <a:r>
              <a:rPr b="1" lang="en-US"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Merge Sort </a:t>
            </a:r>
            <a:r>
              <a:rPr lang="en-US"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ordenando um Array “</a:t>
            </a:r>
            <a:r>
              <a:rPr b="1" lang="en-US"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65318724</a:t>
            </a:r>
            <a:r>
              <a:rPr lang="en-US"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” em ordem </a:t>
            </a:r>
            <a:r>
              <a:rPr b="1" lang="en-US"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crescente</a:t>
            </a:r>
            <a:r>
              <a:rPr lang="en-US"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3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26" name="Google Shape;32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39500" y="5048703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1" name="Google Shape;3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2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Aplicações e Curiosidades</a:t>
            </a:r>
            <a:endParaRPr/>
          </a:p>
        </p:txBody>
      </p:sp>
      <p:sp>
        <p:nvSpPr>
          <p:cNvPr id="333" name="Google Shape;333;p22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2"/>
          <p:cNvSpPr txBox="1"/>
          <p:nvPr/>
        </p:nvSpPr>
        <p:spPr>
          <a:xfrm>
            <a:off x="809625" y="2076450"/>
            <a:ext cx="320711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Ordenação Externa</a:t>
            </a:r>
            <a:endParaRPr/>
          </a:p>
        </p:txBody>
      </p:sp>
      <p:sp>
        <p:nvSpPr>
          <p:cNvPr id="335" name="Google Shape;335;p22"/>
          <p:cNvSpPr txBox="1"/>
          <p:nvPr/>
        </p:nvSpPr>
        <p:spPr>
          <a:xfrm>
            <a:off x="809625" y="2390775"/>
            <a:ext cx="3683700" cy="20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350">
                <a:solidFill>
                  <a:srgbClr val="757575"/>
                </a:solidFill>
              </a:rPr>
              <a:t>Sistemas de banco de dados (como PostgreSQL e MySQL) ou arquivos de logs corporativos frequentemente precisam ordenar terabytes de informação — volumes tão grandes que não cabem na memória RAM do computador. Nesses casos, utiliza-se a </a:t>
            </a:r>
            <a:r>
              <a:rPr b="1" lang="en-US" sz="1350">
                <a:solidFill>
                  <a:srgbClr val="757575"/>
                </a:solidFill>
              </a:rPr>
              <a:t>Ordenação Externa via Merge Sort</a:t>
            </a:r>
            <a:endParaRPr sz="1350">
              <a:solidFill>
                <a:srgbClr val="757575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Google Shape;336;p22"/>
          <p:cNvSpPr txBox="1"/>
          <p:nvPr/>
        </p:nvSpPr>
        <p:spPr>
          <a:xfrm>
            <a:off x="4568874" y="2076450"/>
            <a:ext cx="320711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Listas Encadeadas</a:t>
            </a:r>
            <a:endParaRPr/>
          </a:p>
        </p:txBody>
      </p:sp>
      <p:sp>
        <p:nvSpPr>
          <p:cNvPr id="337" name="Google Shape;337;p22"/>
          <p:cNvSpPr txBox="1"/>
          <p:nvPr/>
        </p:nvSpPr>
        <p:spPr>
          <a:xfrm>
            <a:off x="4568874" y="2409825"/>
            <a:ext cx="3054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É o algoritmo preferido para listas encadeadas (Linked Lists), pois permite intercalação em tempo de espaço extra.</a:t>
            </a:r>
            <a:endParaRPr sz="1350"/>
          </a:p>
        </p:txBody>
      </p:sp>
      <p:sp>
        <p:nvSpPr>
          <p:cNvPr id="338" name="Google Shape;338;p22"/>
          <p:cNvSpPr txBox="1"/>
          <p:nvPr/>
        </p:nvSpPr>
        <p:spPr>
          <a:xfrm>
            <a:off x="8328124" y="2076450"/>
            <a:ext cx="320711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Timsort (Híbrido)</a:t>
            </a:r>
            <a:endParaRPr/>
          </a:p>
        </p:txBody>
      </p:sp>
      <p:sp>
        <p:nvSpPr>
          <p:cNvPr id="339" name="Google Shape;339;p22"/>
          <p:cNvSpPr txBox="1"/>
          <p:nvPr/>
        </p:nvSpPr>
        <p:spPr>
          <a:xfrm>
            <a:off x="8328124" y="2409825"/>
            <a:ext cx="3054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 algoritmo padrão do Python, Java e Android (Timsort) é derivado da combinação otimizada do Merge Sort com o Insertion Sort.</a:t>
            </a:r>
            <a:endParaRPr sz="1350"/>
          </a:p>
        </p:txBody>
      </p:sp>
      <p:pic>
        <p:nvPicPr>
          <p:cNvPr descr="image.png" id="340" name="Google Shape;34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" y="154305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8874" y="1543050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28124" y="154305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2"/>
          <p:cNvSpPr txBox="1"/>
          <p:nvPr/>
        </p:nvSpPr>
        <p:spPr>
          <a:xfrm>
            <a:off x="733325" y="4652775"/>
            <a:ext cx="3207000" cy="21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757575"/>
                </a:solidFill>
              </a:rPr>
              <a:t>A lógica para combinação de duas listas de reprodução mantendo os itens organizados por ordem de popularidade ou lançamento é exatamente a função merge() do Merge Sort.</a:t>
            </a:r>
            <a:endParaRPr sz="1350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4" name="Google Shape;344;p22"/>
          <p:cNvSpPr txBox="1"/>
          <p:nvPr/>
        </p:nvSpPr>
        <p:spPr>
          <a:xfrm>
            <a:off x="733325" y="4356350"/>
            <a:ext cx="30543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Spotify e Playlists Intercaladas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4493330" y="4652775"/>
            <a:ext cx="4277700" cy="16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O Merge Sort foi inventado em 1945 por </a:t>
            </a:r>
            <a:r>
              <a:rPr b="1" lang="en-US" sz="135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John von Neumann</a:t>
            </a:r>
            <a:r>
              <a:rPr lang="en-US" sz="135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, (responsável pela arquitetura de Von Neumann). Na época, os dados eram armazenados em fitas magnéticas, onde a leitura só podia ser feita de forma estritamente sequencial — o cenário perfeito para a estratégia de intercalação do Merge Sort. </a:t>
            </a:r>
            <a:endParaRPr sz="1350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6" name="Google Shape;346;p22"/>
          <p:cNvSpPr txBox="1"/>
          <p:nvPr/>
        </p:nvSpPr>
        <p:spPr>
          <a:xfrm>
            <a:off x="4493325" y="4356350"/>
            <a:ext cx="28878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Invenção do Merge Sort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1" name="Google Shape;35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66825"/>
            <a:ext cx="5353050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7450" y="1266825"/>
            <a:ext cx="535305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3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Conclusão e Síntese</a:t>
            </a:r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3"/>
          <p:cNvSpPr txBox="1"/>
          <p:nvPr/>
        </p:nvSpPr>
        <p:spPr>
          <a:xfrm>
            <a:off x="847725" y="1543050"/>
            <a:ext cx="5040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Pontos Fortes do Merge Sort</a:t>
            </a:r>
            <a:endParaRPr sz="1850"/>
          </a:p>
        </p:txBody>
      </p:sp>
      <p:sp>
        <p:nvSpPr>
          <p:cNvPr id="357" name="Google Shape;357;p23"/>
          <p:cNvSpPr txBox="1"/>
          <p:nvPr/>
        </p:nvSpPr>
        <p:spPr>
          <a:xfrm>
            <a:off x="6543675" y="1543050"/>
            <a:ext cx="5040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Limitações e Quando Evitar</a:t>
            </a:r>
            <a:endParaRPr sz="1850"/>
          </a:p>
        </p:txBody>
      </p:sp>
      <p:sp>
        <p:nvSpPr>
          <p:cNvPr id="358" name="Google Shape;358;p23"/>
          <p:cNvSpPr txBox="1"/>
          <p:nvPr/>
        </p:nvSpPr>
        <p:spPr>
          <a:xfrm>
            <a:off x="942975" y="1924050"/>
            <a:ext cx="9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3"/>
          <p:cNvSpPr txBox="1"/>
          <p:nvPr/>
        </p:nvSpPr>
        <p:spPr>
          <a:xfrm>
            <a:off x="1038225" y="1924050"/>
            <a:ext cx="4610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Desempenho Previsível: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Garantia de independente dos dados iniciais.</a:t>
            </a:r>
            <a:endParaRPr sz="1500"/>
          </a:p>
        </p:txBody>
      </p:sp>
      <p:sp>
        <p:nvSpPr>
          <p:cNvPr id="360" name="Google Shape;360;p23"/>
          <p:cNvSpPr txBox="1"/>
          <p:nvPr/>
        </p:nvSpPr>
        <p:spPr>
          <a:xfrm>
            <a:off x="942975" y="2533650"/>
            <a:ext cx="9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3"/>
          <p:cNvSpPr txBox="1"/>
          <p:nvPr/>
        </p:nvSpPr>
        <p:spPr>
          <a:xfrm>
            <a:off x="1038225" y="2607000"/>
            <a:ext cx="4610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Estabilidade: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Preserva a ordem original de chaves iguais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62" name="Google Shape;362;p23"/>
          <p:cNvSpPr txBox="1"/>
          <p:nvPr/>
        </p:nvSpPr>
        <p:spPr>
          <a:xfrm>
            <a:off x="1038225" y="3289950"/>
            <a:ext cx="4610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Versatilidade: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Excelente para processamento paralelo e ordenação em memória secundária.</a:t>
            </a:r>
            <a:endParaRPr sz="1500"/>
          </a:p>
        </p:txBody>
      </p:sp>
      <p:sp>
        <p:nvSpPr>
          <p:cNvPr id="363" name="Google Shape;363;p23"/>
          <p:cNvSpPr txBox="1"/>
          <p:nvPr/>
        </p:nvSpPr>
        <p:spPr>
          <a:xfrm>
            <a:off x="6734175" y="1924050"/>
            <a:ext cx="461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Custo de Memória: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 uso de de espaço pode ser inviável em sistemas embarcados de baixíssima memória.</a:t>
            </a:r>
            <a:endParaRPr sz="1500"/>
          </a:p>
        </p:txBody>
      </p:sp>
      <p:sp>
        <p:nvSpPr>
          <p:cNvPr id="364" name="Google Shape;364;p23"/>
          <p:cNvSpPr txBox="1"/>
          <p:nvPr/>
        </p:nvSpPr>
        <p:spPr>
          <a:xfrm>
            <a:off x="6638925" y="2790825"/>
            <a:ext cx="9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3"/>
          <p:cNvSpPr txBox="1"/>
          <p:nvPr/>
        </p:nvSpPr>
        <p:spPr>
          <a:xfrm>
            <a:off x="6734175" y="2943750"/>
            <a:ext cx="461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Overhead em Vetores Pequenos: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recursão traz um custo em vetores pequenos (onde o Insertion Sort é mais rápido)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0" name="Google Shape;37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4"/>
          <p:cNvSpPr txBox="1"/>
          <p:nvPr/>
        </p:nvSpPr>
        <p:spPr>
          <a:xfrm>
            <a:off x="571500" y="476250"/>
            <a:ext cx="1160145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Referências Bibliográficas</a:t>
            </a:r>
            <a:endParaRPr/>
          </a:p>
        </p:txBody>
      </p:sp>
      <p:sp>
        <p:nvSpPr>
          <p:cNvPr id="372" name="Google Shape;372;p24"/>
          <p:cNvSpPr/>
          <p:nvPr/>
        </p:nvSpPr>
        <p:spPr>
          <a:xfrm>
            <a:off x="571500" y="10191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4"/>
          <p:cNvSpPr txBox="1"/>
          <p:nvPr/>
        </p:nvSpPr>
        <p:spPr>
          <a:xfrm>
            <a:off x="914400" y="1266825"/>
            <a:ext cx="1070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CORMEN, Thomas H. et al.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1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Algoritmos: teoria e prática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3. ed. Rio de Janeiro: Elsevier, 2012.</a:t>
            </a:r>
            <a:endParaRPr/>
          </a:p>
        </p:txBody>
      </p:sp>
      <p:sp>
        <p:nvSpPr>
          <p:cNvPr id="374" name="Google Shape;374;p24"/>
          <p:cNvSpPr txBox="1"/>
          <p:nvPr/>
        </p:nvSpPr>
        <p:spPr>
          <a:xfrm>
            <a:off x="914400" y="1676400"/>
            <a:ext cx="1070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KNUTH, Donald E.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1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Art of Computer Programming, Volume 3: Sorting and Searching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2nd ed. Boston: Addison-Wesley, 1998.</a:t>
            </a:r>
            <a:endParaRPr sz="135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Google Shape;375;p24"/>
          <p:cNvSpPr txBox="1"/>
          <p:nvPr/>
        </p:nvSpPr>
        <p:spPr>
          <a:xfrm>
            <a:off x="914400" y="2085975"/>
            <a:ext cx="107061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KOSSOSKI, Clayton.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1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Notas de Aula da Disciplina de Estratégias de Programação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C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ornélio Procópio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 Universidade Tecnológica Federal do Paraná (UTFPR), 2026.</a:t>
            </a:r>
            <a:endParaRPr/>
          </a:p>
        </p:txBody>
      </p:sp>
      <p:sp>
        <p:nvSpPr>
          <p:cNvPr id="376" name="Google Shape;376;p24"/>
          <p:cNvSpPr txBox="1"/>
          <p:nvPr/>
        </p:nvSpPr>
        <p:spPr>
          <a:xfrm>
            <a:off x="914400" y="2752725"/>
            <a:ext cx="107061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VISUALGO.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1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VisuAlgo: Visualising data structures and algorithms through animation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Disponível em: . Acesso em: set. 2026.</a:t>
            </a:r>
            <a:endParaRPr/>
          </a:p>
        </p:txBody>
      </p:sp>
      <p:pic>
        <p:nvPicPr>
          <p:cNvPr descr="image.png" id="377" name="Google Shape;37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906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8" name="Google Shape;37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002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10978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7653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4"/>
          <p:cNvSpPr txBox="1"/>
          <p:nvPr/>
        </p:nvSpPr>
        <p:spPr>
          <a:xfrm>
            <a:off x="809625" y="3157050"/>
            <a:ext cx="107061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BACKES, André Ricardo. </a:t>
            </a:r>
            <a:r>
              <a:rPr i="1" lang="en-US"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Algoritmos e Estrutura de Dados em Linguagem C, 2022</a:t>
            </a:r>
            <a:endParaRPr i="1" sz="13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82" name="Google Shape;38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488" y="3238687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